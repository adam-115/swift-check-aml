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43891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✦  PLATEFORME REGTECH &amp; SCREENING LCB-FT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SwiftCheck AML</a:t>
            </a:r>
          </a:p>
          <a:p>
            <a:pPr>
              <a:spcBef>
                <a:spcPts val="800"/>
              </a:spcBef>
              <a:defRPr sz="1900">
                <a:solidFill>
                  <a:srgbClr val="94A3B8"/>
                </a:solidFill>
                <a:latin typeface="Segoe UI"/>
              </a:defRPr>
            </a:pPr>
            <a:r>
              <a:t>Architecture Modulaire PF4J, Normalisation FollowTheMoney &amp; Moteur de Screening Yente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749039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731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Architecture Modulaire PF4J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Framework de plugins isolés avec chargement à chaud et mise à jour de parsers sans arrêt de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749039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39319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 Providers Internationaux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Normalisation automatique (OFAC, UE, ONU, UKSL, DG Trésor, SECO, DFAT) vers le standard FTM .ndjson.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749039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3931920"/>
            <a:ext cx="731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Moteur Yente &amp; 100% Test Coverage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Fuzzy matching haute performance, recherche multi-critères, UBOs et banc de test d'intégrité exhaustive.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Déploiement UI : http://localhost:8087/providers  •  Backend Spring Boot Core  •  Moteur Yente Docker (Port 8000)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VISION &amp; ENJEUX MÉTIER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Contexte Réglementaire et Défi de Conformité 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Répondre aux obligations strictes de conformité financière (LCB-FT / Sanctions Internationales)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La Problématique du Screening 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Hétérogénéité des Formats : </a:t>
            </a:r>
            <a:r>
              <a:rPr sz="1050">
                <a:solidFill>
                  <a:srgbClr val="64748B"/>
                </a:solidFill>
              </a:rPr>
              <a:t>Chaque autorité (OFAC, UE, ONU, etc.) publie sous un schéma propriétaire (XML complexe, CSV, JSON, XLS).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Évolution Permanente &amp; Risque Réglementaire : </a:t>
            </a:r>
            <a:r>
              <a:rPr sz="1050">
                <a:solidFill>
                  <a:srgbClr val="64748B"/>
                </a:solidFill>
              </a:rPr>
              <a:t>Mises à jour quotidiennes des sanctions. Un seul faux négatif (sanction manquée) entraîne des pénalités massives.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Coûts Exorbitants des Fournisseurs Commerciaux : </a:t>
            </a:r>
            <a:r>
              <a:rPr sz="1050">
                <a:solidFill>
                  <a:srgbClr val="64748B"/>
                </a:solidFill>
              </a:rPr>
              <a:t>Les solutions fermées (World-Check, LexisNexis) imposent des coûts récurrents élevés et une opacité totale sur les algorithmes.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Faux Positifs &amp; Homonymie : </a:t>
            </a:r>
            <a:r>
              <a:rPr sz="1050">
                <a:solidFill>
                  <a:srgbClr val="64748B"/>
                </a:solidFill>
              </a:rPr>
              <a:t>La difficulté de concilier vitesse de traitement et précision du matching flou (orthographes, translittérations).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L'Approche Technologique SwiftCheck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10B981"/>
                </a:solidFill>
              </a:rPr>
              <a:t>✔ Modularité Plugin (PF4J) : </a:t>
            </a:r>
            <a:r>
              <a:rPr sz="1050">
                <a:solidFill>
                  <a:srgbClr val="64748B"/>
                </a:solidFill>
              </a:rPr>
              <a:t>Chaque source de sanctions est isolée dans un JAR autonome. Ajout ou mise à jour sans redémarrage du socle.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B981"/>
                </a:solidFill>
              </a:rPr>
              <a:t>✔ Standard Universel FollowTheMoney (FTM) : </a:t>
            </a:r>
            <a:r>
              <a:rPr sz="1050">
                <a:solidFill>
                  <a:srgbClr val="64748B"/>
                </a:solidFill>
              </a:rPr>
              <a:t>Unification de toutes les entités (Personnes, Sociétés, Navires, Sanctions) sous un schéma sémantique éprouvé.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B981"/>
                </a:solidFill>
              </a:rPr>
              <a:t>✔ Moteur Haute Performance Yente : </a:t>
            </a:r>
            <a:r>
              <a:rPr sz="1050">
                <a:solidFill>
                  <a:srgbClr val="64748B"/>
                </a:solidFill>
              </a:rPr>
              <a:t>Screening instantané en mémoire avec scoring de pertinence, multi-critères et support phonétique.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B981"/>
                </a:solidFill>
              </a:rPr>
              <a:t>✔ Test d'Intégrité Automatisé (Zero Missed) : </a:t>
            </a:r>
            <a:r>
              <a:rPr sz="1050">
                <a:solidFill>
                  <a:srgbClr val="64748B"/>
                </a:solidFill>
              </a:rPr>
              <a:t>Validation exhaustive de 100% des entités de chaque liste pour garantir qu'aucune sanction n'est omise.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Architecture Globale en 3 Couches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 la collecte des données brutes au screening en temps réel et à la restitution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Ingestion &amp; Plugins (PF4J)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Sources Officielles
</a:t>
            </a:r>
            <a:r>
              <a:rPr sz="1000">
                <a:solidFill>
                  <a:srgbClr val="64748B"/>
                </a:solidFill>
              </a:rPr>
              <a:t>OFAC, UE, ONU, UKSL, DG Trésor, SECO, DFAT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Plugins Dynamiques
</a:t>
            </a:r>
            <a:r>
              <a:rPr sz="1000">
                <a:solidFill>
                  <a:srgbClr val="64748B"/>
                </a:solidFill>
              </a:rPr>
              <a:t>JARs autonomes implémentant l'interface Iparser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Normalisation FTM
</a:t>
            </a:r>
            <a:r>
              <a:rPr sz="1000">
                <a:solidFill>
                  <a:srgbClr val="64748B"/>
                </a:solidFill>
              </a:rPr>
              <a:t>Génération de fichiers normalisés .ndjson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Validation Stricte
</a:t>
            </a:r>
            <a:r>
              <a:rPr sz="1000">
                <a:solidFill>
                  <a:srgbClr val="64748B"/>
                </a:solidFill>
              </a:rPr>
              <a:t>Contrôle de validité des entités FollowTheMoney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2. Indexation &amp; Moteur (Yente / FTM)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Moteur Docker Yente
</a:t>
            </a:r>
            <a:r>
              <a:rPr sz="1000">
                <a:solidFill>
                  <a:srgbClr val="64748B"/>
                </a:solidFill>
              </a:rPr>
              <a:t>Service conteneurisé exposé sur port 8000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Manifest Dynamique
</a:t>
            </a:r>
            <a:r>
              <a:rPr sz="1000">
                <a:solidFill>
                  <a:srgbClr val="64748B"/>
                </a:solidFill>
              </a:rPr>
              <a:t>Configuration automatique des jeux de données (manifest.yml)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Dataset Consolidé
</a:t>
            </a:r>
            <a:r>
              <a:rPr sz="1000">
                <a:solidFill>
                  <a:srgbClr val="64748B"/>
                </a:solidFill>
              </a:rPr>
              <a:t>Scope 'default' fusionnant toutes les listes mondiales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Fuzzy Matching
</a:t>
            </a:r>
            <a:r>
              <a:rPr sz="1000">
                <a:solidFill>
                  <a:srgbClr val="64748B"/>
                </a:solidFill>
              </a:rPr>
              <a:t>Indexation et scoring sémantique haute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Core Backend &amp; UI (Spring / Angular)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5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Spring Boot Core
</a:t>
            </a:r>
            <a:r>
              <a:rPr sz="1000">
                <a:solidFill>
                  <a:srgbClr val="64748B"/>
                </a:solidFill>
              </a:rPr>
              <a:t>Orchestration, API REST, Gestion des plugins, JasperReports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Base de Données
</a:t>
            </a:r>
            <a:r>
              <a:rPr sz="1000">
                <a:solidFill>
                  <a:srgbClr val="64748B"/>
                </a:solidFill>
              </a:rPr>
              <a:t>Gestion des Providers, Historique d'Audit, Exécutions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Frontend Angular
</a:t>
            </a:r>
            <a:r>
              <a:rPr sz="1000">
                <a:solidFill>
                  <a:srgbClr val="64748B"/>
                </a:solidFill>
              </a:rPr>
              <a:t>Interface moderne déployée sur localhost:8087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Reporting &amp; Export
</a:t>
            </a:r>
            <a:r>
              <a:rPr sz="1000">
                <a:solidFill>
                  <a:srgbClr val="64748B"/>
                </a:solidFill>
              </a:rPr>
              <a:t>Génération de certificats de vérification PDF certifiés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MODULARITÉ &amp; EXTENSIBILITÉ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Architecture Plugin Dynamique avec PF4J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Chargement, exécution et mise à jour à chaud des parsers de listes sans interruption de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Fonctionnement du Moteur PF4J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▶ Découplage Total (SPI) : </a:t>
            </a:r>
            <a:r>
              <a:rPr sz="1050">
                <a:solidFill>
                  <a:srgbClr val="64748B"/>
                </a:solidFill>
              </a:rPr>
              <a:t>Le socle applicatif ne dépend d'aucun parser spécifique. Tous les parsers implémentent l'interface standard Iparser.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▶ Chargement Dynamique de JARs : </a:t>
            </a:r>
            <a:r>
              <a:rPr sz="1050">
                <a:solidFill>
                  <a:srgbClr val="64748B"/>
                </a:solidFill>
              </a:rPr>
              <a:t>Chaque parser est packagé en JAR indépendant dans /plugins. SpringPluginManager charge et initialise les classes dynamiquement.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▶ Cycle de Vie Isolé (Zero Downtime) : </a:t>
            </a:r>
            <a:r>
              <a:rPr sz="1050">
                <a:solidFill>
                  <a:srgbClr val="64748B"/>
                </a:solidFill>
              </a:rPr>
              <a:t>Détection automatique, activation, désactivation et remplacement de plugin sans redémarrer le serveur Spring Boot.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▶ Exécution &amp; Isolation des Erreurs : </a:t>
            </a:r>
            <a:r>
              <a:rPr sz="1050">
                <a:solidFill>
                  <a:srgbClr val="64748B"/>
                </a:solidFill>
              </a:rPr>
              <a:t>Si un schéma source change ou produit une erreur, seul le plugin concerné est marqué FAILED ; le reste du système continue de fonctionner.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493776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810512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Contrat d'Interface : Iparser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// swiftcheck-aml-api : Contrat commun PF4J</a:t>
            </a:r>
            <a:br/>
            <a:r>
              <a:t>package com.swiftcheck.aml.config;</a:t>
            </a:r>
            <a:br/>
            <a:br/>
            <a:r>
              <a:t>import org.pf4j.ExtensionPoint;</a:t>
            </a:r>
            <a:br/>
            <a:br/>
            <a:r>
              <a:t>public interface Iparser extends ExtensionPoint {</a:t>
            </a:r>
            <a:br/>
            <a:br/>
            <a:r>
              <a:t>    // Parsing de la source brute vers FTM .ndjson</a:t>
            </a:r>
            <a:br/>
            <a:r>
              <a:t>    PraserExecutionResult parse(ParserConfig config);</a:t>
            </a:r>
            <a:br/>
            <a:br/>
            <a:r>
              <a:t>    // Validation complète de 100% des entités</a:t>
            </a:r>
            <a:br/>
            <a:r>
              <a:t>    ExecutionTestResult executeTests(</a:t>
            </a:r>
            <a:br/>
            <a:r>
              <a:t>        ParserTestConfig config</a:t>
            </a:r>
            <a:br/>
            <a:r>
              <a:t>    );</a:t>
            </a:r>
            <a:br/>
            <a:r>
              <a:t>}</a:t>
            </a:r>
            <a:br/>
            <a:br/>
            <a:r>
              <a:t>/* Services Clés Core :</a:t>
            </a:r>
            <a:br/>
            <a:r>
              <a:t> * - PluginManagementService (Lifecycle)</a:t>
            </a:r>
            <a:br/>
            <a:r>
              <a:t> * - ParserExecutionService (Historique)</a:t>
            </a:r>
            <a:br/>
            <a:r>
              <a:t> * - ParserTestExecutionService (Validation)</a:t>
            </a:r>
            <a:br/>
            <a:r>
              <a:t> */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COUVERTURE RÉGLEMENTAIRE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Les 7 Fournisseurs de Sanctions Officiels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Intégration et parsing exhaustif des principales listes de sanctions mondiales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🇺🇸 US OFAC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F172A"/>
                </a:solidFill>
              </a:defRPr>
            </a:pPr>
            <a:r>
              <a:t>SDN &amp; Consolidated List</a:t>
            </a:r>
            <a:br/>
            <a:r>
              <a:t>Format : XML / CSV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Trésor américain - Individus, entités terroristes, narcotrafiquants, pays sous embargo.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10512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🇪🇺 Union Européenne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F172A"/>
                </a:solidFill>
              </a:defRPr>
            </a:pPr>
            <a:r>
              <a:t>EU Financial Sanctions</a:t>
            </a:r>
            <a:br/>
            <a:r>
              <a:t>Format : XML Global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Service Européen pour l'Action Extérieure (SEAE) - Mesures restrictives de l'UE.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603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10512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🇺🇳 Nations Unies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488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F172A"/>
                </a:solidFill>
              </a:defRPr>
            </a:pPr>
            <a:r>
              <a:t>UN Consolidated List</a:t>
            </a:r>
            <a:br/>
            <a:r>
              <a:t>Format : XML Structuré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Conseil de Sécurité de l'ONU - Sanctions internationales obligatoires pour tous les États.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5603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810512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🇬🇧 UKSL / OFSI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488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F172A"/>
                </a:solidFill>
              </a:defRPr>
            </a:pPr>
            <a:r>
              <a:t>UK Sanctions List</a:t>
            </a:r>
            <a:br/>
            <a:r>
              <a:t>Format : XML / CSV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HM Treasury &amp; FCDO - Régimes de sanctions post-Brexit du Royaume-Uni.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336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🇫🇷 DG Trésor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F172A"/>
                </a:solidFill>
              </a:defRPr>
            </a:pPr>
            <a:r>
              <a:t>Registre National des Gels  •  Format : JSON API/File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Direction Générale du Trésor - Décisions nationales françaises de gel des avoirs.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0690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2336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🇨🇭 SECO Suisse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F172A"/>
                </a:solidFill>
              </a:defRPr>
            </a:pPr>
            <a:r>
              <a:t>Sanctions de la Suisse  •  Format : XML Officiel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Secrétariat d'État à l'économie - Mesures de coercition de la Confédération suisse.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40690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42336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🇦🇺 DFAT Australie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5262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F172A"/>
                </a:solidFill>
              </a:defRPr>
            </a:pPr>
            <a:r>
              <a:t>Australian Sanctions  •  Format : CSV / Excel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Department of Foreign Affairs and Trade - Listes de sanctions du gouvernement australien.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MODÉLISATION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Le Standard FollowTheMoney (FTM)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Unification des données hétérogènes sous un modèle sémantique de graphe orienté entités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Pourquoi FollowTheMoney (FTM)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◆ Standard International Ouvert : </a:t>
            </a:r>
            <a:r>
              <a:rPr sz="1050">
                <a:solidFill>
                  <a:srgbClr val="64748B"/>
                </a:solidFill>
              </a:rPr>
              <a:t>Créé par OpenSanctions et l'OCCRP, FTM est la référence mondiale pour la modélisation des entités financières, des sanctions et des PEP.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◆ Modèle Basé sur les Entités (Schema-driven) : </a:t>
            </a:r>
            <a:r>
              <a:rPr sz="1050">
                <a:solidFill>
                  <a:srgbClr val="64748B"/>
                </a:solidFill>
              </a:rPr>
              <a:t>Support natif de types riches : Person, Company, Organization, Vessel, Airplane, Sanction, Address, Passport, Directorship.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◆ Liaisons &amp; Relations Complexes : </a:t>
            </a:r>
            <a:r>
              <a:rPr sz="1050">
                <a:solidFill>
                  <a:srgbClr val="64748B"/>
                </a:solidFill>
              </a:rPr>
              <a:t>Capacité à exprimer les liens familiaux, bénéficiaires effectifs (UBO), prête-noms et appartenance à des groupes.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◆ Format NDJSON (Newline Delimited JSON) : </a:t>
            </a:r>
            <a:r>
              <a:rPr sz="1050">
                <a:solidFill>
                  <a:srgbClr val="64748B"/>
                </a:solidFill>
              </a:rPr>
              <a:t>Chaque ligne représente une entité JSON autonome, idéale pour le streaming haute vitesse et l'indexation sans blocage mémoire.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Exemple d'Entité FTM Générée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{</a:t>
            </a:r>
            <a:br/>
            <a:r>
              <a:t>  "id": "ofac-12345",</a:t>
            </a:r>
            <a:br/>
            <a:r>
              <a:t>  "schema": "Person",</a:t>
            </a:r>
            <a:br/>
            <a:r>
              <a:t>  "caption": "VLADIMIR IVANOV",</a:t>
            </a:r>
            <a:br/>
            <a:r>
              <a:t>  "properties": {</a:t>
            </a:r>
            <a:br/>
            <a:r>
              <a:t>    "name": ["VLADIMIR IVANOV", "IVANOV Vladimir"],</a:t>
            </a:r>
            <a:br/>
            <a:r>
              <a:t>    "alias": ["Volodya"],</a:t>
            </a:r>
            <a:br/>
            <a:r>
              <a:t>    "birthDate": ["1975-04-12"],</a:t>
            </a:r>
            <a:br/>
            <a:r>
              <a:t>    "nationality": ["ru"],</a:t>
            </a:r>
            <a:br/>
            <a:r>
              <a:t>    "passportNumber": ["758492019"],</a:t>
            </a:r>
            <a:br/>
            <a:r>
              <a:t>    "topics": ["sanction", "role.pep"],</a:t>
            </a:r>
            <a:br/>
            <a:r>
              <a:t>    "sanctions": ["ofac-sanction-889"]</a:t>
            </a:r>
            <a:br/>
            <a:r>
              <a:t>  },</a:t>
            </a:r>
            <a:br/>
            <a:r>
              <a:t>  "datasets": ["ofac_sanctions"]</a:t>
            </a:r>
            <a:br/>
            <a:r>
              <a:t>}</a:t>
            </a:r>
            <a:br/>
            <a:br/>
            <a:r>
              <a:t>// Fichier produit : ofac_sanctions_ftm.ndjson</a:t>
            </a:r>
            <a:br/>
            <a:r>
              <a:t>// Consommé directement par le moteur Yente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MOTEUR DE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Moteur de Recherche Yente &amp; Fuzzy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Le moteur ultra-rapide basé sur FTM pour le filtrage en temps réel et le calcul de pertinence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Architecture Conteneurisée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Déploiement Docker : </a:t>
            </a:r>
            <a:r>
              <a:rPr sz="1000">
                <a:solidFill>
                  <a:srgbClr val="64748B"/>
                </a:solidFill>
              </a:rPr>
              <a:t>Yente s'exécute dans un conteneur dédié (port 8000), garantissant scalabilité et isolation.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Manifest Dynamique : </a:t>
            </a:r>
            <a:r>
              <a:rPr sz="1000">
                <a:solidFill>
                  <a:srgbClr val="64748B"/>
                </a:solidFill>
              </a:rPr>
              <a:t>Le fichier manifest.yml catalogue chaque jeu de données (EU, ONU, OFAC, etc.) et configure le scope consolidé 'default'.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Synchronisation à Chaud : </a:t>
            </a:r>
            <a:r>
              <a:rPr sz="1000">
                <a:solidFill>
                  <a:srgbClr val="64748B"/>
                </a:solidFill>
              </a:rPr>
              <a:t>Appel automatique à l'API Yente POST /update dès qu'un parser termine son exécution.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Algorithmes de Matching Flou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Scoring Multi-Critères : </a:t>
            </a:r>
            <a:r>
              <a:rPr sz="1000">
                <a:solidFill>
                  <a:srgbClr val="64748B"/>
                </a:solidFill>
              </a:rPr>
              <a:t>Calcul d'un score de 0.0 à 1.0 basé sur la distance Levenshtein, Jaro-Winkler et la similarité n-gram.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Translittération &amp; Phonétique : </a:t>
            </a:r>
            <a:r>
              <a:rPr sz="1000">
                <a:solidFill>
                  <a:srgbClr val="64748B"/>
                </a:solidFill>
              </a:rPr>
              <a:t>Prise en charge des variations de noms (alphabet cyrillique, arabe, alias officiels et prénoms secondaires).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Seuils Configurables : </a:t>
            </a:r>
            <a:r>
              <a:rPr sz="1000">
                <a:solidFill>
                  <a:srgbClr val="64748B"/>
                </a:solidFill>
              </a:rPr>
              <a:t>Filtrage paramétrable (ex: threshold=0.5) pour ajuster la sensibilité et réduire les faux positifs.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API REST Dédiée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Endpoint POST /match/{dataset} : </a:t>
            </a:r>
            <a:r>
              <a:rPr sz="1000">
                <a:solidFill>
                  <a:srgbClr val="64748B"/>
                </a:solidFill>
              </a:rPr>
              <a:t>Soumission de requêtes FTM (Person, Company) pour vérification unitaire ou par lot.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Support Multi-Datasets : </a:t>
            </a:r>
            <a:r>
              <a:rPr sz="1000">
                <a:solidFill>
                  <a:srgbClr val="64748B"/>
                </a:solidFill>
              </a:rPr>
              <a:t>Possibilité de cibler une liste spécifique (ex: /match/eu_sanctions) ou toutes les listes (/match/default).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• Enrichissement des Réponses : </a:t>
            </a:r>
            <a:r>
              <a:rPr sz="1000">
                <a:solidFill>
                  <a:srgbClr val="64748B"/>
                </a:solidFill>
              </a:rPr>
              <a:t>Renvoi des scores, motifs de sanction, alias correspondants et détails complets de l'entité.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MOTEUR DE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Typologie des Recherches Réalisées par Yente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Panorama des modes de screening implémentés dans l'API et l'IHM SwiftCheck 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Screening Nom/Prénom (Name Screening)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Recherche floue sur nom complet, nom de famille, prénom et alias. Tolérance aux inversions (Nom Prénom vs Prénom Nom) et fautes de frappe.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Cas d'usage : </a:t>
            </a:r>
            <a:r>
              <a:rPr sz="900">
                <a:solidFill>
                  <a:srgbClr val="64748B"/>
                </a:solidFill>
              </a:rPr>
              <a:t>Ex: 'Vladimir Putin' vs 'PUTIN, Vladimir'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Segoe UI"/>
              </a:defRPr>
            </a:pPr>
            <a:r>
              <a:t>2. Recherche Multi-Critères (Property-Based)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4028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Combinaison simultanée de plusieurs attributs FTM : Nom + Date de naissance + Nationalité + Pays de résidence pour affiner drastiquement le score.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Cas d'usage : </a:t>
            </a:r>
            <a:r>
              <a:rPr sz="900">
                <a:solidFill>
                  <a:srgbClr val="64748B"/>
                </a:solidFill>
              </a:rPr>
              <a:t>Ex: schema: Person, birthDate: 1975, nationality: 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Recherche Entreprise &amp; UBOs en Parallèle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028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Screening de la personne morale (Company) et exécution concurrente (parallelStream) sur l'ensemble de ses bénéficiaires effectifs (UBOs).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Cas d'usage : </a:t>
            </a:r>
            <a:r>
              <a:rPr sz="900">
                <a:solidFill>
                  <a:srgbClr val="64748B"/>
                </a:solidFill>
              </a:rPr>
              <a:t>Ex: 'Gazprom LLC' + UBOs ['Alexey M.', 'Igor S.']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336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4. Screening par Identifiants &amp;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Recherche exacte ou semi-exacte sur numéros de passeport, cartes nationales d'identité, numéros d'enregistrement fiscal (TIN/SIREN).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Cas d'usage : </a:t>
            </a:r>
            <a:r>
              <a:rPr sz="900">
                <a:solidFill>
                  <a:srgbClr val="64748B"/>
                </a:solidFill>
              </a:rPr>
              <a:t>Ex: passportNumber: '758492019', taxNumber: '99201'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0690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336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5. Multi-Entités Spécialisées (Navires / Avions)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66344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Screening adapté aux biens matériels sous embargo : navires marchands (Vessel / IMO number) et aéronefs (Airplane / Tail number).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Cas d'usage : </a:t>
            </a:r>
            <a:r>
              <a:rPr sz="900">
                <a:solidFill>
                  <a:srgbClr val="64748B"/>
                </a:solidFill>
              </a:rPr>
              <a:t>Ex: schema: Vessel, imoNumber: '9123456'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40690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2336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6. Filtrage par Scope Dédié vs Consolidé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66344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Interrogation ciblée d'une juridiction précise (/match/ofac_sanctions) ou screening global unifié sur les 7 listes (/match/default).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Cas d'usage : </a:t>
            </a:r>
            <a:r>
              <a:rPr sz="900">
                <a:solidFill>
                  <a:srgbClr val="64748B"/>
                </a:solidFill>
              </a:rPr>
              <a:t>Ex: dataset: 'eu_sanctions' ou 'default'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PIPELINE AUTOMATISÉ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Pipeline de Données : De la Source Brute à Yente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Cycle de vie complet de l'ingestion, transformation FTM, indexation et validation d'intégrité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7830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Téléchargement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Collecte du flux officiel brut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26080"/>
            <a:ext cx="1783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onsolas"/>
              </a:defRPr>
            </a:pPr>
            <a:r>
              <a:t>XML, CSV,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1783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Téléchargement automatique depuis les serveurs officiels (OFAC, UE, ONU, etc.) ou chargement manuel.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64592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44951" y="1783080"/>
            <a:ext cx="17830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Parsing StAX &amp; FTM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1" y="23317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Transformation en NDJSON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4951" y="2926080"/>
            <a:ext cx="1783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onsolas"/>
              </a:defRPr>
            </a:pPr>
            <a:r>
              <a:t>StAX / ValueEntity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1" y="3383280"/>
            <a:ext cx="1783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Le parser PF4J extrait les entités, résout les schémas et écrit dans un fichier .ndjson standardisé.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64592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1783080"/>
            <a:ext cx="178308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Sync Manifest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3317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Mise à jour Yente Manifest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21224" y="2926080"/>
            <a:ext cx="1783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onsolas"/>
              </a:defRPr>
            </a:pPr>
            <a:r>
              <a:t>manifest.yml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3383280"/>
            <a:ext cx="1783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YenteManifestService actualise les datasets et appelle l'API Yente POST /update pour notifier le conteneur.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3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164592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97496" y="1783080"/>
            <a:ext cx="17830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Indexation Yente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23317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Chargement en mémoire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97496" y="2926080"/>
            <a:ext cx="1783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onsolas"/>
              </a:defRPr>
            </a:pPr>
            <a:r>
              <a:t>Fuzzy Search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7496" y="3383280"/>
            <a:ext cx="1783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Yente recharge le fichier NDJSON, indexe les termes, phonétiques et alias pour un screening immédiat.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36608" y="164592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73768" y="1783080"/>
            <a:ext cx="17830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5. Test d'Intégrité Exhaustif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23317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Validation 100% des entités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73768" y="2926080"/>
            <a:ext cx="1783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onsolas"/>
              </a:defRPr>
            </a:pPr>
            <a:r>
              <a:t>executeTests()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3383280"/>
            <a:ext cx="1783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Re-vérifie automatiquement chaque individu de la liste originale contre Yente pour garantir 0 oubli 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QUALITÉ &amp; FIABILITÉ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Banc de Tests d'Intégrité : 'Zéro Sanction Ratée'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Validation automatique exhaustive de chaque entité de la liste pour garantir l'absence de faux négatifs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Mécanisme de Test Intégré (executeTests)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✔ Test Automatisé de Chaque Entité : </a:t>
            </a:r>
            <a:r>
              <a:rPr sz="1000">
                <a:solidFill>
                  <a:srgbClr val="64748B"/>
                </a:solidFill>
              </a:rPr>
              <a:t>Après chaque parsing, le système boucle sur 100% des cibles (individus/entreprises) de la source originale pour les soumettre à Yente.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✔ Exécution Parallélisée Haute Vitesse : </a:t>
            </a:r>
            <a:r>
              <a:rPr sz="1000">
                <a:solidFill>
                  <a:srgbClr val="64748B"/>
                </a:solidFill>
              </a:rPr>
              <a:t>Utilisation de CompletableFuture et ExecutorService pour tester des milliers d'entités en quelques secondes.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✔ Détection des Ruptures de Schémas : </a:t>
            </a:r>
            <a:r>
              <a:rPr sz="1000">
                <a:solidFill>
                  <a:srgbClr val="64748B"/>
                </a:solidFill>
              </a:rPr>
              <a:t>Si l'OFAC ou l'UE modifie une balise XML, les entités manquantes sont immédiatement identifiées avec leurs détails d'erreur exacts.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✔ Arrêt d'Urgence &amp; Sécurité : </a:t>
            </a:r>
            <a:r>
              <a:rPr sz="1000">
                <a:solidFill>
                  <a:srgbClr val="64748B"/>
                </a:solidFill>
              </a:rPr>
              <a:t>Si 100 tests échouent consécutivement, le système stoppe le test et marque le parser FAILED pour éviter de déployer un index corrompu.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✔ Journalisation Précise (Failed Cases) : </a:t>
            </a:r>
            <a:r>
              <a:rPr sz="1000">
                <a:solidFill>
                  <a:srgbClr val="64748B"/>
                </a:solidFill>
              </a:rPr>
              <a:t>Enregistrement du JSON envoyé, du statut HTTP, de la réponse Yente et du motif d'échec pour une correction immédiate.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493776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810512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Résultats &amp; Métriques de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>
                <a:solidFill>
                  <a:srgbClr val="CBD5E1"/>
                </a:solidFill>
              </a:rPr>
              <a:t>Taux de Réussite (Success Rate) : </a:t>
            </a:r>
            <a:r>
              <a:rPr b="1" sz="1300">
                <a:solidFill>
                  <a:srgbClr val="10B981"/>
                </a:solidFill>
              </a:rPr>
              <a:t>100.0%
</a:t>
            </a:r>
            <a:r>
              <a:rPr sz="900">
                <a:solidFill>
                  <a:srgbClr val="94A3B8"/>
                </a:solidFill>
              </a:rPr>
              <a:t>Pourcentage d'entités officiellement reconnues par Yente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CBD5E1"/>
                </a:solidFill>
              </a:rPr>
              <a:t>Statut de Non-Régression : </a:t>
            </a:r>
            <a:r>
              <a:rPr b="1" sz="1300">
                <a:solidFill>
                  <a:srgbClr val="06B6D4"/>
                </a:solidFill>
              </a:rPr>
              <a:t>PASSED
</a:t>
            </a:r>
            <a:r>
              <a:rPr sz="900">
                <a:solidFill>
                  <a:srgbClr val="94A3B8"/>
                </a:solidFill>
              </a:rPr>
              <a:t>Validation stricte du schéma FTM et des index phonétiques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CBD5E1"/>
                </a:solidFill>
              </a:rPr>
              <a:t>Zéro Faux Négatif : </a:t>
            </a:r>
            <a:r>
              <a:rPr b="1" sz="1300">
                <a:solidFill>
                  <a:srgbClr val="F59E0B"/>
                </a:solidFill>
              </a:rPr>
              <a:t>Garantie Réglementaire
</a:t>
            </a:r>
            <a:r>
              <a:rPr sz="900">
                <a:solidFill>
                  <a:srgbClr val="94A3B8"/>
                </a:solidFill>
              </a:rPr>
              <a:t>Aucun individu sous sanction n'est omis lors du filtrage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CBD5E1"/>
                </a:solidFill>
              </a:rPr>
              <a:t>Tableau de Bord Global : </a:t>
            </a:r>
            <a:r>
              <a:rPr b="1" sz="1300">
                <a:solidFill>
                  <a:srgbClr val="94A3B8"/>
                </a:solidFill>
              </a:rPr>
              <a:t>/global-test-executions
</a:t>
            </a:r>
            <a:r>
              <a:rPr sz="900">
                <a:solidFill>
                  <a:srgbClr val="94A3B8"/>
                </a:solidFill>
              </a:rPr>
              <a:t>Suivi centralisé de la conformité de tous les parsers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BACKEND &amp;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Services Clés du Backend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Orchestration, logique métier, audit et génération de rapports réglementaires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PluginManagementService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Gestionnaire central du cycle de vie PF4J. Détecte les JARs dans /plugins, instancie les Iparser, exécute les parsers et pilote les tests de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3035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AmlVerificationService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Point d'entrée du screening AML. Construit les requêtes FTM, interroge l'API Yente (/match/default), calcule les correspondances et enregistre l'historique.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53035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6499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YenteManifestService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Génère et synchronise dynamiquement le fichier manifest.yml de Yente en fonction des parsers configurés, puis déclenche le rechargement via webhook.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00400"/>
            <a:ext cx="53035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36499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AmlSearchHistoryService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703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Assure la traçabilité complète de chaque requête de vérification (identité cherchée, date, utilisateur, score, statut, correspondances trouvées).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53035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91947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ParserExecutionService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Supervise l'état d'exécution des crawlers (RUNNING, SUCCESS, FAILED), consigne les logs d'erreurs et les métriques de traitement.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54880"/>
            <a:ext cx="53035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91947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Reporting JasperReports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2578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Moteur d'export PDF produisant des certificats officiels de conformité avec QR Code, score de risque et pistes d'audit pour les régulateurs.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FRONTEND &amp; IHM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Interface Utilisateur Angular (localhost:8087)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Une IHM moderne, intuitive et modulaire dédiée aux analystes et officiers de conformité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Gestion des Fournisseurs (/providers)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Visualisation des 7 providers officiels, statut des flux, configuration des URLs sources et destination.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Exécution des Parsers (/parser-executions)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402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Suivi en temps réel des traitements, logs détaillés, volume d'entités extraites et déclenchement manuel ou planifié.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105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Banc de Tests Global (/global-test-executions)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02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Tableau de bord de validation des parsers pour détecter immédiatement tout changement de format des listes.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336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Screening AML (/aml-verification)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Formulaire de vérification unitaire et avancée (Personne physique ou morale), affichage des scores et des correspondances.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0690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336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Historique d'Audit (/aml-search-history)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Registre complet des recherches de conformité, filtres temporels et téléchargement des rapports officiels PDF.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40690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2336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Segoe UI"/>
              </a:defRPr>
            </a:pPr>
            <a:r>
              <a:t>Internationalisation &amp; Ergonomie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Support multilingue complet (ngx-translate FR/EN), design responsive et composants UI optimisés.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CAS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Exemple de Screening &amp; Rapport JasperReports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Démonstration du flux complet d'une vérification client jusqu'à l'export certifié 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Exemple de Requête &amp; Réponse JSON Yente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// POST http://localhost:8087/api/aml/verify</a:t>
            </a:r>
            <a:br/>
            <a:r>
              <a:t>{</a:t>
            </a:r>
            <a:br/>
            <a:r>
              <a:t>  "schema": "Person",</a:t>
            </a:r>
            <a:br/>
            <a:r>
              <a:t>  "dataset": "default",</a:t>
            </a:r>
            <a:br/>
            <a:r>
              <a:t>  "properties": {</a:t>
            </a:r>
            <a:br/>
            <a:r>
              <a:t>    "name": ["VLADIMIR IVANOV"],</a:t>
            </a:r>
            <a:br/>
            <a:r>
              <a:t>    "nationality": ["ru"],</a:t>
            </a:r>
            <a:br/>
            <a:r>
              <a:t>    "birthDate": ["1975-04-12"]</a:t>
            </a:r>
            <a:br/>
            <a:r>
              <a:t>  }</a:t>
            </a:r>
            <a:br/>
            <a:r>
              <a:t>}</a:t>
            </a:r>
            <a:br/>
            <a:br/>
            <a:r>
              <a:t>// Réponse Yente (Score &amp; Entité correspondante) :</a:t>
            </a:r>
            <a:br/>
            <a:r>
              <a:t>{</a:t>
            </a:r>
            <a:br/>
            <a:r>
              <a:t>  "score": 0.94,</a:t>
            </a:r>
            <a:br/>
            <a:r>
              <a:t>  "match": true,</a:t>
            </a:r>
            <a:br/>
            <a:r>
              <a:t>  "id": "ofac-12345",</a:t>
            </a:r>
            <a:br/>
            <a:r>
              <a:t>  "caption": "VLADIMIR IVANOV",</a:t>
            </a:r>
            <a:br/>
            <a:r>
              <a:t>  "datasets": ["ofac_sanctions"],</a:t>
            </a:r>
            <a:br/>
            <a:r>
              <a:t>  "sanctions": ["Executive Order 14024"]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Restitution &amp; Certificat Officiel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📄 Génération Automatique JasperReports : </a:t>
            </a:r>
            <a:r>
              <a:rPr sz="1050">
                <a:solidFill>
                  <a:srgbClr val="64748B"/>
                </a:solidFill>
              </a:rPr>
              <a:t>Template officiel aml_report.jrxml compilé dynamiquement.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📄 Indicateur Visuel Statut : </a:t>
            </a:r>
            <a:r>
              <a:rPr sz="1050">
                <a:solidFill>
                  <a:srgbClr val="64748B"/>
                </a:solidFill>
              </a:rPr>
              <a:t>Badge 'MATCH' rouge en cas de détection positive, ou badge 'CLEAN' vert si aucune correspondance.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📄 Détail Exhaustif des Correspondances : </a:t>
            </a:r>
            <a:r>
              <a:rPr sz="1050">
                <a:solidFill>
                  <a:srgbClr val="64748B"/>
                </a:solidFill>
              </a:rPr>
              <a:t>Affichage des alias, numéros de passeport, programmes de sanctions applicables et pays concernés.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📄 Horodatage &amp; Traçabilité Réglementaire : </a:t>
            </a:r>
            <a:r>
              <a:rPr sz="1050">
                <a:solidFill>
                  <a:srgbClr val="64748B"/>
                </a:solidFill>
              </a:rPr>
              <a:t>Horodatage certifié, identifiant unique de recherche pour présentation aux régulateurs lors des audits LCB-FT.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📄 Export Immédiat : </a:t>
            </a:r>
            <a:r>
              <a:rPr sz="1050">
                <a:solidFill>
                  <a:srgbClr val="64748B"/>
                </a:solidFill>
              </a:rPr>
              <a:t>Téléchargeable en 1 clic depuis l'IHM Angular (/aml-search-history).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BILAN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Synthèse Technique &amp; Roadmap d'Évolution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Une base technologique d'excellence prête pour les fonctionnalités avancées de conformité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Forces Actuelles de la Plateforme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★ Architecture Plugin PF4J : </a:t>
            </a:r>
            <a:r>
              <a:rPr sz="1050">
                <a:solidFill>
                  <a:srgbClr val="64748B"/>
                </a:solidFill>
              </a:rPr>
              <a:t>Extensibilité infinie sans refactorisation du socle.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★ Standard FollowTheMoney : </a:t>
            </a:r>
            <a:r>
              <a:rPr sz="1050">
                <a:solidFill>
                  <a:srgbClr val="64748B"/>
                </a:solidFill>
              </a:rPr>
              <a:t>Interopérabilité maximale avec l'écosystème open-source mondial.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★ Performance Yente : </a:t>
            </a:r>
            <a:r>
              <a:rPr sz="1050">
                <a:solidFill>
                  <a:srgbClr val="64748B"/>
                </a:solidFill>
              </a:rPr>
              <a:t>Screening en quelques millisecondes sur des millions d'enregistrements.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★ Intégrité 100% Testée : </a:t>
            </a:r>
            <a:r>
              <a:rPr sz="1050">
                <a:solidFill>
                  <a:srgbClr val="64748B"/>
                </a:solidFill>
              </a:rPr>
              <a:t>Banc de validation automatique garantissant zéro sanction manquée.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★ Expérience Complète : </a:t>
            </a:r>
            <a:r>
              <a:rPr sz="1050">
                <a:solidFill>
                  <a:srgbClr val="64748B"/>
                </a:solidFill>
              </a:rPr>
              <a:t>IHM Angular réactive, historique, i18n et rapports PDF certifiés.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Axes d'Évolution Stratégique (Roadmap)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8B5CF6"/>
                </a:solidFill>
              </a:rPr>
              <a:t>🚀 Case Management (Gestion des Dossiers) : </a:t>
            </a:r>
            <a:r>
              <a:rPr sz="1050">
                <a:solidFill>
                  <a:srgbClr val="64748B"/>
                </a:solidFill>
              </a:rPr>
              <a:t>Workflow d'investigation, qualification des alertes, principe des 4 yeux (Maker-Checker) et Whitelisting des faux positifs.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8B5CF6"/>
                </a:solidFill>
              </a:rPr>
              <a:t>🚀 Surveillance Continue (Ongoing Monitoring) : </a:t>
            </a:r>
            <a:r>
              <a:rPr sz="1050">
                <a:solidFill>
                  <a:srgbClr val="64748B"/>
                </a:solidFill>
              </a:rPr>
              <a:t>Re-screening automatique de la base clients lors de la publication de nouvelles sanctions avec alertes delta.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8B5CF6"/>
                </a:solidFill>
              </a:rPr>
              <a:t>🚀 Connecteurs PEP &amp; Médias Défavorables : </a:t>
            </a:r>
            <a:r>
              <a:rPr sz="1050">
                <a:solidFill>
                  <a:srgbClr val="64748B"/>
                </a:solidFill>
              </a:rPr>
              <a:t>Intégration de flux complémentaires d'Adverse Media et de Personnes Politiquement Exposées.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8B5CF6"/>
                </a:solidFill>
              </a:rPr>
              <a:t>🚀 Intégration SI / API Webhook : </a:t>
            </a:r>
            <a:r>
              <a:rPr sz="1050">
                <a:solidFill>
                  <a:srgbClr val="64748B"/>
                </a:solidFill>
              </a:rPr>
              <a:t>Connecteurs temps réel vers les Core Banking et ERP financiers.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