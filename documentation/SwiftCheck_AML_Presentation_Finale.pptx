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43891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✦  PLATEFORME REGTECH &amp; SCREENING LCB-FT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SwiftCheck AML</a:t>
            </a:r>
          </a:p>
          <a:p>
            <a:pPr>
              <a:spcBef>
                <a:spcPts val="800"/>
              </a:spcBef>
              <a:defRPr sz="1900">
                <a:solidFill>
                  <a:srgbClr val="94A3B8"/>
                </a:solidFill>
                <a:latin typeface="Segoe UI"/>
              </a:defRPr>
            </a:pPr>
            <a:r>
              <a:t>Architecture Modulaire PF4J, Standard FollowTheMoney &amp; Screening Temps Réel Yente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749039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7315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114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Architecture Modulaire PF4J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Framework de plugins isolés avec chargement à chaud et mise à jour de parsers sans arrêt de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749039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39319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4114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7 Providers Internationaux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Normalisation automatique (OFAC, UE, ONU, UKSL, DG Trésor, SECO, DFAT) vers le standard FTM .ndjson.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749039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3931920"/>
            <a:ext cx="731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14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Moteur Yente &amp; 99.1% Test Success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Screening haute performance, recherche multi-critères, UBOs et banc de test d'intégrité exhaustive.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Déploiement UI : http://localhost:8087/providers  •  Backend Spring Boot Core  •  Moteur Yente Docker (Port 8000)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VISION &amp; ENJEUX MÉTIER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Contexte Réglementaire et Défi de Conformité 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Répondre aux obligations strictes de conformité financière (LCB-FT / Sanctions Internationales)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La Problématique du Screening 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Hétérogénéité des Formats : </a:t>
            </a:r>
            <a:r>
              <a:rPr sz="1050">
                <a:solidFill>
                  <a:srgbClr val="64748B"/>
                </a:solidFill>
              </a:rPr>
              <a:t>Chaque autorité (OFAC, UE, ONU, etc.) publie sous un schéma propriétaire (XML complexe, CSV, JSON, XLS).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Évolution Permanente &amp; Risque Réglementaire : </a:t>
            </a:r>
            <a:r>
              <a:rPr sz="1050">
                <a:solidFill>
                  <a:srgbClr val="64748B"/>
                </a:solidFill>
              </a:rPr>
              <a:t>Mises à jour quotidiennes des sanctions. Un seul faux négatif (sanction manquée) entraîne des pénalités massives.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Coûts Exorbitants des Fournisseurs Commerciaux : </a:t>
            </a:r>
            <a:r>
              <a:rPr sz="1050">
                <a:solidFill>
                  <a:srgbClr val="64748B"/>
                </a:solidFill>
              </a:rPr>
              <a:t>Les solutions fermées (World-Check, LexisNexis) imposent des coûts récurrents élevés et une opacité totale sur les algorithmes.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Faux Positifs &amp; Homonymie : </a:t>
            </a:r>
            <a:r>
              <a:rPr sz="1050">
                <a:solidFill>
                  <a:srgbClr val="64748B"/>
                </a:solidFill>
              </a:rPr>
              <a:t>La difficulté de concilier vitesse de traitement et précision du matching flou (orthographes, translittérations).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L'Approche Technologique SwiftCheck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10B981"/>
                </a:solidFill>
              </a:rPr>
              <a:t>✔ Modularité Plugin (PF4J) : </a:t>
            </a:r>
            <a:r>
              <a:rPr sz="1050">
                <a:solidFill>
                  <a:srgbClr val="64748B"/>
                </a:solidFill>
              </a:rPr>
              <a:t>Chaque source de sanctions est isolée dans un JAR autonome. Ajout ou mise à jour sans redémarrage du socle.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0B981"/>
                </a:solidFill>
              </a:rPr>
              <a:t>✔ Standard Universel FollowTheMoney (FTM) : </a:t>
            </a:r>
            <a:r>
              <a:rPr sz="1050">
                <a:solidFill>
                  <a:srgbClr val="64748B"/>
                </a:solidFill>
              </a:rPr>
              <a:t>Unification de toutes les entités (Personnes, Sociétés, Navires, Sanctions) sous un schéma sémantique éprouvé.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0B981"/>
                </a:solidFill>
              </a:rPr>
              <a:t>✔ Moteur Haute Performance Yente : </a:t>
            </a:r>
            <a:r>
              <a:rPr sz="1050">
                <a:solidFill>
                  <a:srgbClr val="64748B"/>
                </a:solidFill>
              </a:rPr>
              <a:t>Screening instantané en mémoire avec scoring de pertinence, multi-critères et support phonétique.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0B981"/>
                </a:solidFill>
              </a:rPr>
              <a:t>✔ Test d'Intégrité Automatisé (Zero Missed) : </a:t>
            </a:r>
            <a:r>
              <a:rPr sz="1050">
                <a:solidFill>
                  <a:srgbClr val="64748B"/>
                </a:solidFill>
              </a:rPr>
              <a:t>Validation exhaustive de 100% des entités de chaque liste pour garantir qu'aucune sanction n'est omise.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Architecture Globale en 3 Couches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 la collecte des données brutes au screening en temps réel et à la restitution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Ingestion &amp; Plugins (PF4J)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Sources Officielles
</a:t>
            </a:r>
            <a:r>
              <a:rPr sz="1000">
                <a:solidFill>
                  <a:srgbClr val="64748B"/>
                </a:solidFill>
              </a:rPr>
              <a:t>OFAC, UE, ONU, UKSL, DG Trésor, SECO, DFAT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Plugins Dynamiques
</a:t>
            </a:r>
            <a:r>
              <a:rPr sz="1000">
                <a:solidFill>
                  <a:srgbClr val="64748B"/>
                </a:solidFill>
              </a:rPr>
              <a:t>JARs autonomes implémentant l'interface Iparser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Normalisation FTM
</a:t>
            </a:r>
            <a:r>
              <a:rPr sz="1000">
                <a:solidFill>
                  <a:srgbClr val="64748B"/>
                </a:solidFill>
              </a:rPr>
              <a:t>Génération de fichiers normalisés .ndjson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Validation Stricte
</a:t>
            </a:r>
            <a:r>
              <a:rPr sz="1000">
                <a:solidFill>
                  <a:srgbClr val="64748B"/>
                </a:solidFill>
              </a:rPr>
              <a:t>Contrôle de validité des entités FollowTheMoney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2. Indexation &amp; Moteur (Yente / FTM)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945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Moteur Docker Yente
</a:t>
            </a:r>
            <a:r>
              <a:rPr sz="1000">
                <a:solidFill>
                  <a:srgbClr val="64748B"/>
                </a:solidFill>
              </a:rPr>
              <a:t>Service conteneurisé exposé sur port 8000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Manifest Dynamique
</a:t>
            </a:r>
            <a:r>
              <a:rPr sz="1000">
                <a:solidFill>
                  <a:srgbClr val="64748B"/>
                </a:solidFill>
              </a:rPr>
              <a:t>Configuration automatique des jeux de données (manifest.yml)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Dataset Consolidé
</a:t>
            </a:r>
            <a:r>
              <a:rPr sz="1000">
                <a:solidFill>
                  <a:srgbClr val="64748B"/>
                </a:solidFill>
              </a:rPr>
              <a:t>Scope 'default' fusionnant toutes les listes mondiales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Fuzzy Matching
</a:t>
            </a:r>
            <a:r>
              <a:rPr sz="1000">
                <a:solidFill>
                  <a:srgbClr val="64748B"/>
                </a:solidFill>
              </a:rPr>
              <a:t>Indexation et scoring sémantique haute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Core Backend &amp; UI (Spring / Angular)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945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Spring Boot Core
</a:t>
            </a:r>
            <a:r>
              <a:rPr sz="1000">
                <a:solidFill>
                  <a:srgbClr val="64748B"/>
                </a:solidFill>
              </a:rPr>
              <a:t>Orchestration, API REST, Gestion des plugins, JasperReports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Base de Données
</a:t>
            </a:r>
            <a:r>
              <a:rPr sz="1000">
                <a:solidFill>
                  <a:srgbClr val="64748B"/>
                </a:solidFill>
              </a:rPr>
              <a:t>Gestion des Providers, Historique d'Audit, Exécutions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Frontend Angular
</a:t>
            </a:r>
            <a:r>
              <a:rPr sz="1000">
                <a:solidFill>
                  <a:srgbClr val="64748B"/>
                </a:solidFill>
              </a:rPr>
              <a:t>Interface moderne déployée sur localhost:8087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Reporting &amp; Export
</a:t>
            </a:r>
            <a:r>
              <a:rPr sz="1000">
                <a:solidFill>
                  <a:srgbClr val="64748B"/>
                </a:solidFill>
              </a:rPr>
              <a:t>Génération de certificats de vérification PDF certifiés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MODULARITÉ &amp; EXTENSIBILITÉ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Architecture Plugin Dynamique avec PF4J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Chargement, exécution et mise à jour à chaud des parsers de listes sans interruption de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Fonctionnement du Moteur PF4J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▶ Découplage Total (SPI) : </a:t>
            </a:r>
            <a:r>
              <a:rPr sz="1050">
                <a:solidFill>
                  <a:srgbClr val="64748B"/>
                </a:solidFill>
              </a:rPr>
              <a:t>Le socle applicatif ne dépend d'aucun parser spécifique. Tous les parsers implémentent l'interface standard Iparser.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▶ Chargement Dynamique de JARs : </a:t>
            </a:r>
            <a:r>
              <a:rPr sz="1050">
                <a:solidFill>
                  <a:srgbClr val="64748B"/>
                </a:solidFill>
              </a:rPr>
              <a:t>Chaque parser est packagé en JAR indépendant dans /plugins. SpringPluginManager charge et initialise les classes dynamiquement.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▶ Cycle de Vie Isolé (Zero Downtime) : </a:t>
            </a:r>
            <a:r>
              <a:rPr sz="1050">
                <a:solidFill>
                  <a:srgbClr val="64748B"/>
                </a:solidFill>
              </a:rPr>
              <a:t>Détection automatique, activation, désactivation et remplacement de plugin sans redémarrer le serveur Spring Boot.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▶ Exécution &amp; Isolation des Erreurs : </a:t>
            </a:r>
            <a:r>
              <a:rPr sz="1050">
                <a:solidFill>
                  <a:srgbClr val="64748B"/>
                </a:solidFill>
              </a:rPr>
              <a:t>Si un schéma source change ou produit une erreur, seul le plugin concerné est marqué FAILED ; le reste du système continue de fonctionner.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45920"/>
            <a:ext cx="493776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810512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Contrat d'Interface : Iparser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// swiftcheck-aml-api : Contrat commun PF4J</a:t>
            </a:r>
            <a:br/>
            <a:r>
              <a:t>package com.swiftcheck.aml.config;</a:t>
            </a:r>
            <a:br/>
            <a:br/>
            <a:r>
              <a:t>import org.pf4j.ExtensionPoint;</a:t>
            </a:r>
            <a:br/>
            <a:br/>
            <a:r>
              <a:t>public interface Iparser extends ExtensionPoint {</a:t>
            </a:r>
            <a:br/>
            <a:br/>
            <a:r>
              <a:t>    // Parsing de la source brute vers FTM .ndjson</a:t>
            </a:r>
            <a:br/>
            <a:r>
              <a:t>    PraserExecutionResult parse(ParserConfig config);</a:t>
            </a:r>
            <a:br/>
            <a:br/>
            <a:r>
              <a:t>    // Validation complète de 100% des entités</a:t>
            </a:r>
            <a:br/>
            <a:r>
              <a:t>    ExecutionTestResult executeTests(</a:t>
            </a:r>
            <a:br/>
            <a:r>
              <a:t>        ParserTestConfig config</a:t>
            </a:r>
            <a:br/>
            <a:r>
              <a:t>    );</a:t>
            </a:r>
            <a:br/>
            <a:r>
              <a:t>}</a:t>
            </a:r>
            <a:br/>
            <a:br/>
            <a:r>
              <a:t>/* Services Clés Core :</a:t>
            </a:r>
            <a:br/>
            <a:r>
              <a:t> * - PluginManagementService (Lifecycle)</a:t>
            </a:r>
            <a:br/>
            <a:r>
              <a:t> * - ParserExecutionService (Historique)</a:t>
            </a:r>
            <a:br/>
            <a:r>
              <a:t> * - ParserTestExecutionService (Validation)</a:t>
            </a:r>
            <a:br/>
            <a:r>
              <a:t> */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INTERFACE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Gestion des Fournisseurs de Sanctions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Supervision et paramétrage des 7 sources officielles de sanctions internationales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2062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Supervision des Flux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7 Sources Actives (7/7) : </a:t>
            </a:r>
            <a:r>
              <a:rPr sz="1000">
                <a:solidFill>
                  <a:srgbClr val="64748B"/>
                </a:solidFill>
              </a:rPr>
              <a:t>Couverture complète : OFAC, UE, ONU, UKSL, DG Trésor, SECO, DFAT.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Contrôle Centralisé : </a:t>
            </a:r>
            <a:r>
              <a:rPr sz="1000">
                <a:solidFill>
                  <a:srgbClr val="64748B"/>
                </a:solidFill>
              </a:rPr>
              <a:t>Activation/désactivation à la volée de chaque fournisseur sans impact sur les autres flux.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Configuration Dynamique : </a:t>
            </a:r>
            <a:r>
              <a:rPr sz="1000">
                <a:solidFill>
                  <a:srgbClr val="64748B"/>
                </a:solidFill>
              </a:rPr>
              <a:t>Paramétrage des URLs officielles de téléchargement et des périodicités de synchronisation.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Bouton '+ Nouveau Fournisseur' : </a:t>
            </a:r>
            <a:r>
              <a:rPr sz="1000">
                <a:solidFill>
                  <a:srgbClr val="64748B"/>
                </a:solidFill>
              </a:rPr>
              <a:t>Possibilité d'ajouter de nouvelles juridictions ou listes personnalisées en quelques clics.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64592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ov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37360"/>
            <a:ext cx="6035040" cy="425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03520" y="603504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📷 Écran Réel de l'Application : Gestion des Fournisseurs (http://localhost:8087/providers)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INTERFACE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Gestion des Parsers &amp; Datasets Yente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Pilotage des plugins PF4J et normalisation au standard FollowTheMoney (FTM)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2062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Ingestion &amp; Plugins PF4J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▶ 7 Plugins Dédiés : </a:t>
            </a:r>
            <a:r>
              <a:rPr sz="1000">
                <a:solidFill>
                  <a:srgbClr val="64748B"/>
                </a:solidFill>
              </a:rPr>
              <a:t>Un parser autonome par source transformant les fichiers XML/CSV en entités FTM .ndjson.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▶ Datasets Yente Dédiés : </a:t>
            </a:r>
            <a:r>
              <a:rPr sz="1000">
                <a:solidFill>
                  <a:srgbClr val="64748B"/>
                </a:solidFill>
              </a:rPr>
              <a:t>Chaque parser alimente son propre dataset (ex: eu_sanctions, onu_sanctions, ofac_sanctions).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▶ Santé des Tests (Health) : </a:t>
            </a:r>
            <a:r>
              <a:rPr sz="1000">
                <a:solidFill>
                  <a:srgbClr val="64748B"/>
                </a:solidFill>
              </a:rPr>
              <a:t>Indicateur en temps réel de l'état de conformité de chaque plugin (OK / Failure).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▶ Gestion des Versions : </a:t>
            </a:r>
            <a:r>
              <a:rPr sz="1000">
                <a:solidFill>
                  <a:srgbClr val="64748B"/>
                </a:solidFill>
              </a:rPr>
              <a:t>Suivi précis des versions de parsers déployées dans le répertoire des plugins.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64592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r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37360"/>
            <a:ext cx="6035040" cy="425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03520" y="603504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📷 Écran Réel de l'Application : Liste des Parsers (http://localhost:8087/parsers)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MOTEUR DE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Moteur de Recherche Yente &amp; Fuzzy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Le moteur ultra-rapide basé sur FTM pour le filtrage en temps réel et le calcul de pertinence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Architecture Conteneurisée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Déploiement Docker : </a:t>
            </a:r>
            <a:r>
              <a:rPr sz="1000">
                <a:solidFill>
                  <a:srgbClr val="64748B"/>
                </a:solidFill>
              </a:rPr>
              <a:t>Yente s'exécute dans un conteneur dédié (port 8000), garantissant scalabilité et isolation.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Manifest Dynamique : </a:t>
            </a:r>
            <a:r>
              <a:rPr sz="1000">
                <a:solidFill>
                  <a:srgbClr val="64748B"/>
                </a:solidFill>
              </a:rPr>
              <a:t>Le fichier manifest.yml catalogue chaque jeu de données (EU, ONU, OFAC, etc.) et configure le scope consolidé 'default'.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Synchronisation à Chaud : </a:t>
            </a:r>
            <a:r>
              <a:rPr sz="1000">
                <a:solidFill>
                  <a:srgbClr val="64748B"/>
                </a:solidFill>
              </a:rPr>
              <a:t>Appel automatique à l'API Yente POST /update dès qu'un parser termine son exécution.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Algorithmes de Matching Flou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945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Scoring Multi-Critères : </a:t>
            </a:r>
            <a:r>
              <a:rPr sz="1000">
                <a:solidFill>
                  <a:srgbClr val="64748B"/>
                </a:solidFill>
              </a:rPr>
              <a:t>Calcul d'un score de 0.0 à 1.0 basé sur la distance Levenshtein, Jaro-Winkler et la similarité n-gram.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Translittération &amp; Phonétique : </a:t>
            </a:r>
            <a:r>
              <a:rPr sz="1000">
                <a:solidFill>
                  <a:srgbClr val="64748B"/>
                </a:solidFill>
              </a:rPr>
              <a:t>Prise en charge des variations de noms (alphabet cyrillique, arabe, alias officiels et prénoms secondaires).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Seuils Configurables : </a:t>
            </a:r>
            <a:r>
              <a:rPr sz="1000">
                <a:solidFill>
                  <a:srgbClr val="64748B"/>
                </a:solidFill>
              </a:rPr>
              <a:t>Filtrage paramétrable (ex: threshold=0.5) pour ajuster la sensibilité et réduire les faux positifs.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API REST Dédiée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945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Endpoint POST /match/{dataset} : </a:t>
            </a:r>
            <a:r>
              <a:rPr sz="1000">
                <a:solidFill>
                  <a:srgbClr val="64748B"/>
                </a:solidFill>
              </a:rPr>
              <a:t>Soumission de requêtes FTM (Person, Company) pour vérification unitaire ou par lot.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Support Multi-Datasets : </a:t>
            </a:r>
            <a:r>
              <a:rPr sz="1000">
                <a:solidFill>
                  <a:srgbClr val="64748B"/>
                </a:solidFill>
              </a:rPr>
              <a:t>Possibilité de cibler une liste spécifique (ex: /match/eu_sanctions) ou toutes les listes (/match/default).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Enrichissement des Réponses : </a:t>
            </a:r>
            <a:r>
              <a:rPr sz="1000">
                <a:solidFill>
                  <a:srgbClr val="64748B"/>
                </a:solidFill>
              </a:rPr>
              <a:t>Renvoi des scores, motifs de sanction, alias correspondants et détails complets de l'entité.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MOTEUR DE 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Typologie des Recherches Réalisées par Yente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Panorama des modes de screening implémentés dans l'API et l'IHM SwiftCheck AML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Screening Nom/Prénom (Name Screening)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Recherche floue sur nom complet, nom de famille, prénom et alias. Tolérance aux inversions (Nom Prénom vs Prénom Nom) et fautes de frappe.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Cas d'usage : </a:t>
            </a:r>
            <a:r>
              <a:rPr sz="900">
                <a:solidFill>
                  <a:srgbClr val="64748B"/>
                </a:solidFill>
              </a:rPr>
              <a:t>Ex: 'Vladimir Putin' vs 'PUTIN, Vladimir'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Segoe UI"/>
              </a:defRPr>
            </a:pPr>
            <a:r>
              <a:t>2. Recherche Multi-Critères (Property-Based)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4028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Combinaison simultanée de plusieurs attributs FTM : Nom + Date de naissance + Nationalité + Pays de résidence pour affiner drastiquement le score.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Cas d'usage : </a:t>
            </a:r>
            <a:r>
              <a:rPr sz="900">
                <a:solidFill>
                  <a:srgbClr val="64748B"/>
                </a:solidFill>
              </a:rPr>
              <a:t>Ex: schema: Person, birthDate: 1975, nationality: ru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Recherche Entreprise &amp; UBOs en Parallèle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4028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Screening de la personne morale (Company) et exécution concurrente (parallelStream) sur l'ensemble de ses bénéficiaires effectifs (UBOs).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Cas d'usage : </a:t>
            </a:r>
            <a:r>
              <a:rPr sz="900">
                <a:solidFill>
                  <a:srgbClr val="64748B"/>
                </a:solidFill>
              </a:rPr>
              <a:t>Ex: 'Gazprom LLC' + UBOs ['Alexey M.', 'Igor S.']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3367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4. Screening par Identifiants &amp;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Recherche exacte ou semi-exacte sur numéros de passeport, cartes nationales d'identité, numéros d'enregistrement fiscal (TIN/SIREN).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Cas d'usage : </a:t>
            </a:r>
            <a:r>
              <a:rPr sz="900">
                <a:solidFill>
                  <a:srgbClr val="64748B"/>
                </a:solidFill>
              </a:rPr>
              <a:t>Ex: passportNumber: '758492019', taxNumber: '99201'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0690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23367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5. Multi-Entités Spécialisées (Navires / Avions)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66344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Screening adapté aux biens matériels sous embargo : navires marchands (Vessel / IMO number) et aéronefs (Airplane / Tail number).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Cas d'usage : </a:t>
            </a:r>
            <a:r>
              <a:rPr sz="900">
                <a:solidFill>
                  <a:srgbClr val="64748B"/>
                </a:solidFill>
              </a:rPr>
              <a:t>Ex: schema: Vessel, imoNumber: '9123456'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40690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423367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6. Filtrage par Scope Dédié vs Consolidé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66344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Interrogation ciblée d'une juridiction précise (/match/ofac_sanctions) ou screening global unifié sur les 7 listes (/match/default).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Cas d'usage : </a:t>
            </a:r>
            <a:r>
              <a:rPr sz="900">
                <a:solidFill>
                  <a:srgbClr val="64748B"/>
                </a:solidFill>
              </a:rPr>
              <a:t>Ex: dataset: 'eu_sanctions' ou 'default'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PIPELINE AUTOMATISÉ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Pipeline de Données : De la Source Brute à Yente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Cycle de vie complet de l'ingestion, transformation FTM, indexation et validation d'intégrité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7830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Téléchargement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Collecte du flux officiel brut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926080"/>
            <a:ext cx="1783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onsolas"/>
              </a:defRPr>
            </a:pPr>
            <a:r>
              <a:t>XML, CSV,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1783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Téléchargement automatique depuis les serveurs officiels (OFAC, UE, ONU, etc.) ou chargement manuel.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64592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44951" y="1783080"/>
            <a:ext cx="178308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Parsing StAX &amp; FTM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1" y="233172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Transformation en NDJSON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4951" y="2926080"/>
            <a:ext cx="1783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onsolas"/>
              </a:defRPr>
            </a:pPr>
            <a:r>
              <a:t>StAX / ValueEntity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1" y="3383280"/>
            <a:ext cx="1783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Le parser PF4J extrait les entités, résout les schémas et écrit dans un fichier .ndjson standardisé.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64592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1783080"/>
            <a:ext cx="1783080" cy="411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Sync Manifest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33172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Mise à jour Yente Manifest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21224" y="2926080"/>
            <a:ext cx="1783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onsolas"/>
              </a:defRPr>
            </a:pPr>
            <a:r>
              <a:t>manifest.yml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3383280"/>
            <a:ext cx="1783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YenteManifestService actualise les datasets et appelle l'API Yente POST /update pour notifier le conteneur.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3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164592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97496" y="1783080"/>
            <a:ext cx="17830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Indexation Yente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233172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Chargement en mémoire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97496" y="2926080"/>
            <a:ext cx="1783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onsolas"/>
              </a:defRPr>
            </a:pPr>
            <a:r>
              <a:t>Fuzzy Search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7496" y="3383280"/>
            <a:ext cx="1783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Yente recharge le fichier NDJSON, indexe les termes, phonétiques et alias pour un screening immédiat.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36608" y="164592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73768" y="1783080"/>
            <a:ext cx="17830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5. Test d'Intégrité Exhaustif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233172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Validation 100% des entités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73768" y="2926080"/>
            <a:ext cx="1783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onsolas"/>
              </a:defRPr>
            </a:pPr>
            <a:r>
              <a:t>executeTests()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8" y="3383280"/>
            <a:ext cx="1783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Re-vérifie automatiquement chaque individu de la liste originale contre Yente pour garantir 0 oubli 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INTERFACE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Banc de Tests Global : 'Zéro Sanction Ratée'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Validation automatique exhaustive avec 85 000+ cas réels exécutés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2062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Résultats du Banc de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★ 85 008 Cas Testés (Global) : </a:t>
            </a:r>
            <a:r>
              <a:rPr sz="1000">
                <a:solidFill>
                  <a:srgbClr val="64748B"/>
                </a:solidFill>
              </a:rPr>
              <a:t>Toutes les entités de chaque liste sont soumises à Yente pour vérifier leur reconnaissance.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★ Taux de Succès Exceptionnel : 99.1% : </a:t>
            </a:r>
            <a:r>
              <a:rPr sz="1000">
                <a:solidFill>
                  <a:srgbClr val="64748B"/>
                </a:solidFill>
              </a:rPr>
              <a:t>84 265 cas réussis validant la conformité parfaite du modèle FollowTheMoney.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★ Détection des Anomalies (0.4%) : </a:t>
            </a:r>
            <a:r>
              <a:rPr sz="1000">
                <a:solidFill>
                  <a:srgbClr val="64748B"/>
                </a:solidFill>
              </a:rPr>
              <a:t>Seulement 333 cas à inspecter, immédiatement isolés pour correction du schéma.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★ Zéro Faux Négatif Réglementaire : </a:t>
            </a:r>
            <a:r>
              <a:rPr sz="1000">
                <a:solidFill>
                  <a:srgbClr val="64748B"/>
                </a:solidFill>
              </a:rPr>
              <a:t>Garantie formelle d'intégrité de la donnée avant mise à disposition des analystes.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64592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37360"/>
            <a:ext cx="6035040" cy="425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03520" y="603504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📷 Écran Réel : Monitoring Global des Tests (http://localhost:8087/monitoring)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INTERFACE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Assurance Qualité Détaillée par Parser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Inspection unitaire des exécutions de tests (ex: Parser SECO Suisse)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2062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Détails d'Exécution &amp; Fiabilité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✔ Dernier Taux de Succès : 96.63% : </a:t>
            </a:r>
            <a:r>
              <a:rPr sz="1000">
                <a:solidFill>
                  <a:srgbClr val="64748B"/>
                </a:solidFill>
              </a:rPr>
              <a:t>Sur le parser SECO : 16 729 cas réussis sur 17 312 entités testées.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✔ Bouton '▶ Lancer un Test' : </a:t>
            </a:r>
            <a:r>
              <a:rPr sz="1000">
                <a:solidFill>
                  <a:srgbClr val="64748B"/>
                </a:solidFill>
              </a:rPr>
              <a:t>Possibilité de relancer à la demande une suite de tests après mise à jour du code plugin.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✔ Inspection des Cas d'Échec : </a:t>
            </a:r>
            <a:r>
              <a:rPr sz="1000">
                <a:solidFill>
                  <a:srgbClr val="64748B"/>
                </a:solidFill>
              </a:rPr>
              <a:t>Visualisation des requêtes JSON exactes et des réponses Yente pour corriger les cas limites.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✔ Traçabilité des Versions : </a:t>
            </a:r>
            <a:r>
              <a:rPr sz="1000">
                <a:solidFill>
                  <a:srgbClr val="64748B"/>
                </a:solidFill>
              </a:rPr>
              <a:t>Historisation complète de chaque exécution de test avec date, durée et taux de succès.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64592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rser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37360"/>
            <a:ext cx="6035040" cy="425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03520" y="603504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📷 Écran Réel : Détail des Tests du Parser (http://localhost:8087/parsers/5/tests)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INTERFACE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Screening &amp; Vérification AML en Temps Réel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Outil interactif de filtrage client contre l'ensemble des listes de sanctions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2062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Fonctionnalités de Screening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🔍 Sélection de Fournisseur : </a:t>
            </a:r>
            <a:r>
              <a:rPr sz="1000">
                <a:solidFill>
                  <a:srgbClr val="64748B"/>
                </a:solidFill>
              </a:rPr>
              <a:t>Choix entre une liste spécifique ou le scope consolidé mondial.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🔍 Filtres par Type d'Entité : </a:t>
            </a:r>
            <a:r>
              <a:rPr sz="1000">
                <a:solidFill>
                  <a:srgbClr val="64748B"/>
                </a:solidFill>
              </a:rPr>
              <a:t>Boutons interactifs : Toute entité, Personne, Société / Entité, Navire, Avion.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🔍 Résultats Instantanés : </a:t>
            </a:r>
            <a:r>
              <a:rPr sz="1000">
                <a:solidFill>
                  <a:srgbClr val="64748B"/>
                </a:solidFill>
              </a:rPr>
              <a:t>Calcul en quelques millisecondes du score de similarité, affichage des correspondances et motifs de sanction.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🔍 Génération de Rapport PDF : </a:t>
            </a:r>
            <a:r>
              <a:rPr sz="1000">
                <a:solidFill>
                  <a:srgbClr val="64748B"/>
                </a:solidFill>
              </a:rPr>
              <a:t>Export immédiat du certificat d'audit pour le dossier de conformité.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64592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37360"/>
            <a:ext cx="6035040" cy="425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03520" y="603504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📷 Écran Réel : Vérification AML (http://localhost:8087/verification)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INTERFACE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Historique d'Audit &amp; Traçabilité Réglementaire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Journal immuable de l'ensemble des vérifications effectuées avec statut et motifs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2062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Conformité &amp; Preuve Légale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📋 Journal Exhaustif des Requêtes : </a:t>
            </a:r>
            <a:r>
              <a:rPr sz="1000">
                <a:solidFill>
                  <a:srgbClr val="64748B"/>
                </a:solidFill>
              </a:rPr>
              <a:t>Horodatage précis de chaque recherche effectuée (ex: Kim Jong Un, Gazprom, Satya Nadella).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📋 Statuts Visuels Clairs : </a:t>
            </a:r>
            <a:r>
              <a:rPr sz="1000">
                <a:solidFill>
                  <a:srgbClr val="64748B"/>
                </a:solidFill>
              </a:rPr>
              <a:t>Badges immédiats : CLEAN (aucun risque détecté) ou nombre de correspondances de sanctions identifiées.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📋 Bouton 'Détails' : </a:t>
            </a:r>
            <a:r>
              <a:rPr sz="1000">
                <a:solidFill>
                  <a:srgbClr val="64748B"/>
                </a:solidFill>
              </a:rPr>
              <a:t>Ouverture d'une modale avec l'intégralité des attributs de l'entité et motifs de sanctions.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📋 Export PDF JasperReports : </a:t>
            </a:r>
            <a:r>
              <a:rPr sz="1000">
                <a:solidFill>
                  <a:srgbClr val="64748B"/>
                </a:solidFill>
              </a:rPr>
              <a:t>Production de rapports officiels certifiés pour les autorités de régulation.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64592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37360"/>
            <a:ext cx="6035040" cy="425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03520" y="603504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📷 Écran Réel : Historique AML (http://localhost:8087/verification/history)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INTERFACE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Configuration Système &amp; Paramétrage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Gestion des chemins de stockage, URLs d'API Yente et répertoires de plugins PF4J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2062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Paramètres d'Environnement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⚙ URL Moteur Yente : </a:t>
            </a:r>
            <a:r>
              <a:rPr sz="1000">
                <a:solidFill>
                  <a:srgbClr val="64748B"/>
                </a:solidFill>
              </a:rPr>
              <a:t>Point d'accès au service de screening Docker (http://localhost:8000/).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⚙ Répertoire des Données : </a:t>
            </a:r>
            <a:r>
              <a:rPr sz="1000">
                <a:solidFill>
                  <a:srgbClr val="64748B"/>
                </a:solidFill>
              </a:rPr>
              <a:t>Dossier de stockage des fichiers sources et fichiers FTM .ndjson (D:\test-parser).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⚙ Répertoire Plugins PF4J : </a:t>
            </a:r>
            <a:r>
              <a:rPr sz="1000">
                <a:solidFill>
                  <a:srgbClr val="64748B"/>
                </a:solidFill>
              </a:rPr>
              <a:t>Dossier où sont déposés les JARs compilés des parsers (chargement dynamique à chaud).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⚙ Flexibilité d'Infrastructure : </a:t>
            </a:r>
            <a:r>
              <a:rPr sz="1000">
                <a:solidFill>
                  <a:srgbClr val="64748B"/>
                </a:solidFill>
              </a:rPr>
              <a:t>Adaptation instantanée aux environnements de développement, test et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64592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37360"/>
            <a:ext cx="6035040" cy="425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03520" y="603504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📷 Écran Réel : Configuration Système (http://localhost:8087/config)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BILAN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Synthèse Technique &amp; Roadmap d'Évolution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Une base technologique d'excellence prête pour les fonctionnalités avancées de conformité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Forces Actuelles de la Plateforme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★ Architecture Plugin PF4J : </a:t>
            </a:r>
            <a:r>
              <a:rPr sz="1050">
                <a:solidFill>
                  <a:srgbClr val="64748B"/>
                </a:solidFill>
              </a:rPr>
              <a:t>Extensibilité infinie sans refactorisation du socle applicatif.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★ Standard FollowTheMoney : </a:t>
            </a:r>
            <a:r>
              <a:rPr sz="1050">
                <a:solidFill>
                  <a:srgbClr val="64748B"/>
                </a:solidFill>
              </a:rPr>
              <a:t>Interopérabilité maximale avec l'écosystème mondial OpenSanctions.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★ Performance Yente : </a:t>
            </a:r>
            <a:r>
              <a:rPr sz="1050">
                <a:solidFill>
                  <a:srgbClr val="64748B"/>
                </a:solidFill>
              </a:rPr>
              <a:t>Screening en quelques millisecondes sur des millions d'enregistrements.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★ Intégrité 100% Validée : </a:t>
            </a:r>
            <a:r>
              <a:rPr sz="1050">
                <a:solidFill>
                  <a:srgbClr val="64748B"/>
                </a:solidFill>
              </a:rPr>
              <a:t>Banc de test avec 85 000+ cas validés (99.1% de succès).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★ IHM Complète &amp; Audit : </a:t>
            </a:r>
            <a:r>
              <a:rPr sz="1050">
                <a:solidFill>
                  <a:srgbClr val="64748B"/>
                </a:solidFill>
              </a:rPr>
              <a:t>Interface Angular intuitive, traçabilité légale et rapports PDF certifiés.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Axes d'Évolution Stratégique (Roadmap)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8B5CF6"/>
                </a:solidFill>
              </a:rPr>
              <a:t>🚀 Case Management (Gestion des Dossiers) : </a:t>
            </a:r>
            <a:r>
              <a:rPr sz="1050">
                <a:solidFill>
                  <a:srgbClr val="64748B"/>
                </a:solidFill>
              </a:rPr>
              <a:t>Workflow d'investigation, qualification des alertes, principe des 4 yeux (Maker-Checker) et Whitelisting des faux positifs.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8B5CF6"/>
                </a:solidFill>
              </a:rPr>
              <a:t>🚀 Surveillance Continue (Ongoing Monitoring) : </a:t>
            </a:r>
            <a:r>
              <a:rPr sz="1050">
                <a:solidFill>
                  <a:srgbClr val="64748B"/>
                </a:solidFill>
              </a:rPr>
              <a:t>Re-screening automatique de la base clients lors de la publication de nouvelles sanctions avec alertes delta.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8B5CF6"/>
                </a:solidFill>
              </a:rPr>
              <a:t>🚀 Connecteurs PEP &amp; Médias Défavorables : </a:t>
            </a:r>
            <a:r>
              <a:rPr sz="1050">
                <a:solidFill>
                  <a:srgbClr val="64748B"/>
                </a:solidFill>
              </a:rPr>
              <a:t>Intégration de flux complémentaires d'Adverse Media et de Personnes Politiquement Exposées.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8B5CF6"/>
                </a:solidFill>
              </a:rPr>
              <a:t>🚀 Intégration SI / API Webhook : </a:t>
            </a:r>
            <a:r>
              <a:rPr sz="1050">
                <a:solidFill>
                  <a:srgbClr val="64748B"/>
                </a:solidFill>
              </a:rPr>
              <a:t>Connecteurs temps réel vers les Core Banking et ERP financiers.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